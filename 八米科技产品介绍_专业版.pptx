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9144000" y="0"/>
            <a:ext cx="3047695" cy="2743200"/>
          </a:xfrm>
          <a:prstGeom prst="rtTriangle">
            <a:avLst/>
          </a:prstGeom>
          <a:solidFill>
            <a:srgbClr val="1A6BA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3657600" cy="1828800"/>
          </a:xfrm>
          <a:prstGeom prst="rect">
            <a:avLst/>
          </a:prstGeom>
          <a:solidFill>
            <a:srgbClr val="F5A62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FFFFFF"/>
                </a:solidFill>
              </a:defRPr>
            </a:pPr>
            <a:r>
              <a:t>智能供应链与AI数字员工</a:t>
            </a:r>
          </a:p>
          <a:p>
            <a:pPr>
              <a:defRPr sz="5200" b="1">
                <a:solidFill>
                  <a:srgbClr val="F5A623"/>
                </a:solidFill>
              </a:defRPr>
            </a:pPr>
            <a:r>
              <a:t>解决方案领航者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广州八米网络科技有限公司 | www.bami.com | www.aibami.com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6BA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828800"/>
            <a:ext cx="5486400" cy="5486400"/>
          </a:xfrm>
          <a:prstGeom prst="ellipse">
            <a:avLst/>
          </a:prstGeom>
          <a:solidFill>
            <a:srgbClr val="2A7B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4572000" cy="1828800"/>
          </a:xfrm>
          <a:prstGeom prst="rect">
            <a:avLst/>
          </a:prstGeom>
          <a:solidFill>
            <a:srgbClr val="1A1A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 b="1">
                <a:solidFill>
                  <a:srgbClr val="F5A623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关于八米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6BA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1A2E"/>
                </a:solidFill>
              </a:defRPr>
            </a:pPr>
            <a:r>
              <a:t>公司概况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🏢 广州八米网络科技有限公司，前身为平原软件，成立于2011年</a:t>
            </a:r>
          </a:p>
          <a:p>
            <a:pPr>
              <a:spcAft>
                <a:spcPts val="1000"/>
              </a:spcAft>
              <a:defRPr sz="1400">
                <a:solidFill>
                  <a:srgbClr val="6B6B7B"/>
                </a:solidFill>
              </a:defRPr>
            </a:pPr>
            <a:r>
              <a:t>   总部位于广州，在北京、上海、深圳设有分支机构</a:t>
            </a:r>
          </a:p>
          <a:p>
            <a:pPr>
              <a:spcAft>
                <a:spcPts val="1000"/>
              </a:spcAft>
              <a:defRPr sz="1400">
                <a:solidFill>
                  <a:srgbClr val="6B6B7B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🎯 中国领先的供应链数字化和AI Agent解决方案提供商</a:t>
            </a:r>
          </a:p>
          <a:p>
            <a:pPr>
              <a:spcAft>
                <a:spcPts val="1000"/>
              </a:spcAft>
              <a:defRPr sz="1400">
                <a:solidFill>
                  <a:srgbClr val="6B6B7B"/>
                </a:solidFill>
              </a:defRPr>
            </a:pPr>
            <a:r>
              <a:t>   国家级高新技术企业，拥有50+项软件著作权</a:t>
            </a:r>
          </a:p>
          <a:p>
            <a:pPr>
              <a:spcAft>
                <a:spcPts val="1000"/>
              </a:spcAft>
              <a:defRPr sz="1400">
                <a:solidFill>
                  <a:srgbClr val="6B6B7B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6B6B7B"/>
                </a:solidFill>
              </a:defRPr>
            </a:pPr>
            <a:r>
              <a:t>🏆 ISO9001质量管理体系认证、ISO27001信息安全管理体系认证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6BA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核心数据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3566160" cy="210312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3566160" cy="73152"/>
          </a:xfrm>
          <a:prstGeom prst="rect">
            <a:avLst/>
          </a:prstGeom>
          <a:solidFill>
            <a:srgbClr val="1A6BA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3566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A6BA4"/>
                </a:solidFill>
              </a:defRPr>
            </a:pPr>
            <a:r>
              <a:t>15+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39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/>
            </a:pPr>
            <a:r>
              <a:t>年行业深耕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4639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B6B7B"/>
                </a:solidFill>
              </a:defRPr>
            </a:pPr>
            <a:r>
              <a:t>持续专注供应链数字化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280160"/>
            <a:ext cx="3566160" cy="210312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40" y="1280160"/>
            <a:ext cx="3566160" cy="73152"/>
          </a:xfrm>
          <a:prstGeom prst="rect">
            <a:avLst/>
          </a:prstGeom>
          <a:solidFill>
            <a:srgbClr val="F5A62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600200"/>
            <a:ext cx="3566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5A623"/>
                </a:solidFill>
              </a:defRPr>
            </a:pPr>
            <a:r>
              <a:t>1200+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377439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/>
            </a:pPr>
            <a:r>
              <a:t>全球客户案例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834639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B6B7B"/>
                </a:solidFill>
              </a:defRPr>
            </a:pPr>
            <a:r>
              <a:t>覆盖电商、制造、零售、物流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0" y="1280160"/>
            <a:ext cx="3566160" cy="210312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95360" y="1280160"/>
            <a:ext cx="3566160" cy="73152"/>
          </a:xfrm>
          <a:prstGeom prst="rect">
            <a:avLst/>
          </a:prstGeom>
          <a:solidFill>
            <a:srgbClr val="27AE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1600200"/>
            <a:ext cx="3566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7AE60"/>
                </a:solidFill>
              </a:defRPr>
            </a:pPr>
            <a:r>
              <a:t>100万+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377439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/>
            </a:pPr>
            <a:r>
              <a:t>日订单处理能力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2834639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B6B7B"/>
                </a:solidFill>
              </a:defRPr>
            </a:pPr>
            <a:r>
              <a:t>高并发架构，稳定可靠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657600"/>
            <a:ext cx="3566160" cy="210312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657600"/>
            <a:ext cx="3566160" cy="73152"/>
          </a:xfrm>
          <a:prstGeom prst="rect">
            <a:avLst/>
          </a:prstGeom>
          <a:solidFill>
            <a:srgbClr val="3A9AD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977639"/>
            <a:ext cx="3566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3A9AD9"/>
                </a:solidFill>
              </a:defRPr>
            </a:pPr>
            <a:r>
              <a:t>80%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75488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/>
            </a:pPr>
            <a:r>
              <a:t>技术研发团队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2120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B6B7B"/>
                </a:solidFill>
              </a:defRPr>
            </a:pPr>
            <a:r>
              <a:t>持续创新，技术驱动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63440" y="3657600"/>
            <a:ext cx="3566160" cy="210312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63440" y="3657600"/>
            <a:ext cx="3566160" cy="73152"/>
          </a:xfrm>
          <a:prstGeom prst="rect">
            <a:avLst/>
          </a:prstGeom>
          <a:solidFill>
            <a:srgbClr val="E67E2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0" y="3977639"/>
            <a:ext cx="3566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E67E22"/>
                </a:solidFill>
              </a:defRPr>
            </a:pPr>
            <a:r>
              <a:t>99.99%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475488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/>
            </a:pPr>
            <a:r>
              <a:t>系统可用性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52120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B6B7B"/>
                </a:solidFill>
              </a:defRPr>
            </a:pPr>
            <a:r>
              <a:t>7×24小时稳定运行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95360" y="3657600"/>
            <a:ext cx="3566160" cy="210312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95360" y="3657600"/>
            <a:ext cx="3566160" cy="73152"/>
          </a:xfrm>
          <a:prstGeom prst="rect">
            <a:avLst/>
          </a:prstGeom>
          <a:solidFill>
            <a:srgbClr val="9B59B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95360" y="3977639"/>
            <a:ext cx="3566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9B59B6"/>
                </a:solidFill>
              </a:defRPr>
            </a:pPr>
            <a:r>
              <a:t>50+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475488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/>
            </a:pPr>
            <a:r>
              <a:t>软件著作权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52120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B6B7B"/>
                </a:solidFill>
              </a:defRPr>
            </a:pPr>
            <a:r>
              <a:t>自主知识产权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6BA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828800"/>
            <a:ext cx="5486400" cy="5486400"/>
          </a:xfrm>
          <a:prstGeom prst="ellipse">
            <a:avLst/>
          </a:prstGeom>
          <a:solidFill>
            <a:srgbClr val="2A7B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4572000" cy="1828800"/>
          </a:xfrm>
          <a:prstGeom prst="rect">
            <a:avLst/>
          </a:prstGeom>
          <a:solidFill>
            <a:srgbClr val="1A1A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 b="1">
                <a:solidFill>
                  <a:srgbClr val="F5A623"/>
                </a:solidFill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WMS仓储管理系统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6BA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1A2E"/>
                </a:solidFill>
              </a:defRPr>
            </a:pPr>
            <a:r>
              <a:t>系统核心价值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💡 面向中大型企业的智能化仓储作业管理平台</a:t>
            </a:r>
          </a:p>
          <a:p>
            <a:pPr>
              <a:spcAft>
                <a:spcPts val="1000"/>
              </a:spcAft>
              <a:defRPr sz="1400">
                <a:solidFill>
                  <a:srgbClr val="6B6B7B"/>
                </a:solidFill>
              </a:defRPr>
            </a:pPr>
            <a:r>
              <a:t>   实现仓储全流程数字化、智能化管理</a:t>
            </a:r>
          </a:p>
          <a:p>
            <a:pPr>
              <a:spcAft>
                <a:spcPts val="1000"/>
              </a:spcAft>
              <a:defRPr sz="1400">
                <a:solidFill>
                  <a:srgbClr val="6B6B7B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🎯 核心价值：</a:t>
            </a:r>
          </a:p>
          <a:p>
            <a:pPr>
              <a:spcAft>
                <a:spcPts val="1000"/>
              </a:spcAft>
              <a:defRPr sz="1400">
                <a:solidFill>
                  <a:srgbClr val="6B6B7B"/>
                </a:solidFill>
              </a:defRPr>
            </a:pPr>
            <a:r>
              <a:t>   提升作业效率：人均效能提升3-5倍</a:t>
            </a:r>
          </a:p>
          <a:p>
            <a:pPr>
              <a:spcAft>
                <a:spcPts val="1000"/>
              </a:spcAft>
              <a:defRPr sz="1400">
                <a:solidFill>
                  <a:srgbClr val="6B6B7B"/>
                </a:solidFill>
              </a:defRPr>
            </a:pPr>
            <a:r>
              <a:t>   降低运营成本：仓储成本降低30-40%</a:t>
            </a:r>
          </a:p>
          <a:p>
            <a:pPr>
              <a:spcAft>
                <a:spcPts val="1000"/>
              </a:spcAft>
              <a:defRPr sz="1400">
                <a:solidFill>
                  <a:srgbClr val="6B6B7B"/>
                </a:solidFill>
              </a:defRPr>
            </a:pPr>
            <a:r>
              <a:t>   提高准确率：发货准确率达99.99%</a:t>
            </a:r>
          </a:p>
          <a:p>
            <a:pPr>
              <a:spcAft>
                <a:spcPts val="1000"/>
              </a:spcAft>
              <a:defRPr sz="1400">
                <a:solidFill>
                  <a:srgbClr val="6B6B7B"/>
                </a:solidFill>
              </a:defRPr>
            </a:pPr>
            <a:r>
              <a:t>   优化库存周转：周转天数缩短30%+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6BA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1A2E"/>
                </a:solidFill>
              </a:defRPr>
            </a:pPr>
            <a:r>
              <a:t>核心功能模块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6B6B7B"/>
                </a:solidFill>
              </a:defRPr>
            </a:pPr>
            <a:r>
              <a:t>📦 入库管理：预约到货、扫码收货、质检管控、智能上架</a:t>
            </a:r>
          </a:p>
          <a:p>
            <a:pPr>
              <a:spcAft>
                <a:spcPts val="1000"/>
              </a:spcAft>
              <a:defRPr sz="1400">
                <a:solidFill>
                  <a:srgbClr val="6B6B7B"/>
                </a:solidFill>
              </a:defRPr>
            </a:pPr>
            <a:r>
              <a:t>📊 库存管理：实时可视化、批次效期、智能补货、循环盘点</a:t>
            </a:r>
          </a:p>
          <a:p>
            <a:pPr>
              <a:spcAft>
                <a:spcPts val="1000"/>
              </a:spcAft>
              <a:defRPr sz="1400">
                <a:solidFill>
                  <a:srgbClr val="6B6B7B"/>
                </a:solidFill>
              </a:defRPr>
            </a:pPr>
            <a:r>
              <a:t>🚚 出库管理：智能波次、多种拣货策略、复核打包、物流对接</a:t>
            </a:r>
          </a:p>
          <a:p>
            <a:pPr>
              <a:spcAft>
                <a:spcPts val="1000"/>
              </a:spcAft>
              <a:defRPr sz="1400">
                <a:solidFill>
                  <a:srgbClr val="6B6B7B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✨ 特色能力：9大拦截节点，错发率降至0.1%以下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6BA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828800"/>
            <a:ext cx="5486400" cy="5486400"/>
          </a:xfrm>
          <a:prstGeom prst="ellipse">
            <a:avLst/>
          </a:prstGeom>
          <a:solidFill>
            <a:srgbClr val="2A7B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4572000" cy="1828800"/>
          </a:xfrm>
          <a:prstGeom prst="rect">
            <a:avLst/>
          </a:prstGeom>
          <a:solidFill>
            <a:srgbClr val="1A1A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 b="1">
                <a:solidFill>
                  <a:srgbClr val="F5A623"/>
                </a:solidFill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TMS运输管理系统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6BA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1A2E"/>
                </a:solidFill>
              </a:defRPr>
            </a:pPr>
            <a:r>
              <a:t>TMS系统能力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6B6B7B"/>
                </a:solidFill>
              </a:defRPr>
            </a:pPr>
            <a:r>
              <a:t>🚛 智能调度：基于订单、车辆、路况自动生成最优配送计划</a:t>
            </a:r>
          </a:p>
          <a:p>
            <a:pPr>
              <a:spcAft>
                <a:spcPts val="1000"/>
              </a:spcAft>
              <a:defRPr sz="1400">
                <a:solidFill>
                  <a:srgbClr val="6B6B7B"/>
                </a:solidFill>
              </a:defRPr>
            </a:pPr>
            <a:r>
              <a:t>🗺️ 路径优化：配送里程减少15-30%</a:t>
            </a:r>
          </a:p>
          <a:p>
            <a:pPr>
              <a:spcAft>
                <a:spcPts val="1000"/>
              </a:spcAft>
              <a:defRPr sz="1400">
                <a:solidFill>
                  <a:srgbClr val="6B6B7B"/>
                </a:solidFill>
              </a:defRPr>
            </a:pPr>
            <a:r>
              <a:t>📍 在途可视：GPS实时追踪，异常即时预警</a:t>
            </a:r>
          </a:p>
          <a:p>
            <a:pPr>
              <a:spcAft>
                <a:spcPts val="1000"/>
              </a:spcAft>
              <a:defRPr sz="1400">
                <a:solidFill>
                  <a:srgbClr val="6B6B7B"/>
                </a:solidFill>
              </a:defRPr>
            </a:pPr>
            <a:r>
              <a:t>💰 智能计费：多维度计费规则，运费自动结算</a:t>
            </a:r>
          </a:p>
          <a:p>
            <a:pPr>
              <a:spcAft>
                <a:spcPts val="1000"/>
              </a:spcAft>
              <a:defRPr sz="1400">
                <a:solidFill>
                  <a:srgbClr val="6B6B7B"/>
                </a:solidFill>
              </a:defRPr>
            </a:pPr>
            <a:r>
              <a:t>📱 司机APP：任务推送、电子签收、回单上传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6BA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828800"/>
            <a:ext cx="5486400" cy="5486400"/>
          </a:xfrm>
          <a:prstGeom prst="ellipse">
            <a:avLst/>
          </a:prstGeom>
          <a:solidFill>
            <a:srgbClr val="2A7B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4572000" cy="1828800"/>
          </a:xfrm>
          <a:prstGeom prst="rect">
            <a:avLst/>
          </a:prstGeom>
          <a:solidFill>
            <a:srgbClr val="1A1A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 b="1">
                <a:solidFill>
                  <a:srgbClr val="F5A623"/>
                </a:solidFill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AI数字员工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6BA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1A2E"/>
                </a:solidFill>
              </a:defRPr>
            </a:pPr>
            <a:r>
              <a:t>AI数字员工概述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💡 基于大语言模型（LLM）和Agent技术的智能虚拟助手</a:t>
            </a:r>
          </a:p>
          <a:p>
            <a:pPr>
              <a:spcAft>
                <a:spcPts val="1000"/>
              </a:spcAft>
              <a:defRPr sz="1400">
                <a:solidFill>
                  <a:srgbClr val="6B6B7B"/>
                </a:solidFill>
              </a:defRPr>
            </a:pPr>
            <a:r>
              <a:t>   理解业务场景、自主规划任务、完成复杂业务流程</a:t>
            </a:r>
          </a:p>
          <a:p>
            <a:pPr>
              <a:spcAft>
                <a:spcPts val="1000"/>
              </a:spcAft>
              <a:defRPr sz="1400">
                <a:solidFill>
                  <a:srgbClr val="6B6B7B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🎯 核心价值：</a:t>
            </a:r>
          </a:p>
          <a:p>
            <a:pPr>
              <a:spcAft>
                <a:spcPts val="1000"/>
              </a:spcAft>
              <a:defRPr sz="1400">
                <a:solidFill>
                  <a:srgbClr val="6B6B7B"/>
                </a:solidFill>
              </a:defRPr>
            </a:pPr>
            <a:r>
              <a:t>   7×24小时不间断工作</a:t>
            </a:r>
          </a:p>
          <a:p>
            <a:pPr>
              <a:spcAft>
                <a:spcPts val="1000"/>
              </a:spcAft>
              <a:defRPr sz="1400">
                <a:solidFill>
                  <a:srgbClr val="6B6B7B"/>
                </a:solidFill>
              </a:defRPr>
            </a:pPr>
            <a:r>
              <a:t>   降低人力成本60-80%</a:t>
            </a:r>
          </a:p>
          <a:p>
            <a:pPr>
              <a:spcAft>
                <a:spcPts val="1000"/>
              </a:spcAft>
              <a:defRPr sz="1400">
                <a:solidFill>
                  <a:srgbClr val="6B6B7B"/>
                </a:solidFill>
              </a:defRPr>
            </a:pPr>
            <a:r>
              <a:t>   业务处理效率提升5-10倍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6BA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1A2E"/>
                </a:solidFill>
              </a:defRPr>
            </a:pPr>
            <a:r>
              <a:t>产品矩阵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6B6B7B"/>
                </a:solidFill>
              </a:defRPr>
            </a:pPr>
            <a:r>
              <a:t>🤖 智能客服数字员工</a:t>
            </a:r>
          </a:p>
          <a:p>
            <a:pPr>
              <a:spcAft>
                <a:spcPts val="1000"/>
              </a:spcAft>
              <a:defRPr sz="1400">
                <a:solidFill>
                  <a:srgbClr val="6B6B7B"/>
                </a:solidFill>
              </a:defRPr>
            </a:pPr>
            <a:r>
              <a:t>   自然语言对话、知识库检索、情绪识别、全渠道服务</a:t>
            </a:r>
          </a:p>
          <a:p>
            <a:pPr>
              <a:spcAft>
                <a:spcPts val="1000"/>
              </a:spcAft>
              <a:defRPr sz="1400">
                <a:solidFill>
                  <a:srgbClr val="6B6B7B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6B6B7B"/>
                </a:solidFill>
              </a:defRPr>
            </a:pPr>
            <a:r>
              <a:t>🤖 智能运营数字员工</a:t>
            </a:r>
          </a:p>
          <a:p>
            <a:pPr>
              <a:spcAft>
                <a:spcPts val="1000"/>
              </a:spcAft>
              <a:defRPr sz="1400">
                <a:solidFill>
                  <a:srgbClr val="6B6B7B"/>
                </a:solidFill>
              </a:defRPr>
            </a:pPr>
            <a:r>
              <a:t>   订单自动审核、数据处理、报表生成、异常监控</a:t>
            </a:r>
          </a:p>
          <a:p>
            <a:pPr>
              <a:spcAft>
                <a:spcPts val="1000"/>
              </a:spcAft>
              <a:defRPr sz="1400">
                <a:solidFill>
                  <a:srgbClr val="6B6B7B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6B6B7B"/>
                </a:solidFill>
              </a:defRPr>
            </a:pPr>
            <a:r>
              <a:t>🤖 智能数据分析员</a:t>
            </a:r>
          </a:p>
          <a:p>
            <a:pPr>
              <a:spcAft>
                <a:spcPts val="1000"/>
              </a:spcAft>
              <a:defRPr sz="1400">
                <a:solidFill>
                  <a:srgbClr val="6B6B7B"/>
                </a:solidFill>
              </a:defRPr>
            </a:pPr>
            <a:r>
              <a:t>   自然语言转SQL、智能洞察、一键报告、预测分析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6BA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828800"/>
            <a:ext cx="5486400" cy="5486400"/>
          </a:xfrm>
          <a:prstGeom prst="ellipse">
            <a:avLst/>
          </a:prstGeom>
          <a:solidFill>
            <a:srgbClr val="2A7B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4572000" cy="1828800"/>
          </a:xfrm>
          <a:prstGeom prst="rect">
            <a:avLst/>
          </a:prstGeom>
          <a:solidFill>
            <a:srgbClr val="1A1A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 b="1">
                <a:solidFill>
                  <a:srgbClr val="F5A623"/>
                </a:solidFill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AI + 供应链场景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6BA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1A2E"/>
                </a:solidFill>
              </a:defRPr>
            </a:pPr>
            <a:r>
              <a:t>AI赋能供应链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6B6B7B"/>
                </a:solidFill>
              </a:defRPr>
            </a:pPr>
            <a:r>
              <a:t>📈 智能需求预测：预测准确率提升30%+</a:t>
            </a:r>
          </a:p>
          <a:p>
            <a:pPr>
              <a:spcAft>
                <a:spcPts val="1000"/>
              </a:spcAft>
              <a:defRPr sz="1400">
                <a:solidFill>
                  <a:srgbClr val="6B6B7B"/>
                </a:solidFill>
              </a:defRPr>
            </a:pPr>
            <a:r>
              <a:t>📦 智能库存优化：库存周转率提升25%+</a:t>
            </a:r>
          </a:p>
          <a:p>
            <a:pPr>
              <a:spcAft>
                <a:spcPts val="1000"/>
              </a:spcAft>
              <a:defRPr sz="1400">
                <a:solidFill>
                  <a:srgbClr val="6B6B7B"/>
                </a:solidFill>
              </a:defRPr>
            </a:pPr>
            <a:r>
              <a:t>🚛 智能路径优化：配送成本降低15-30%</a:t>
            </a:r>
          </a:p>
          <a:p>
            <a:pPr>
              <a:spcAft>
                <a:spcPts val="1000"/>
              </a:spcAft>
              <a:defRPr sz="1400">
                <a:solidFill>
                  <a:srgbClr val="6B6B7B"/>
                </a:solidFill>
              </a:defRPr>
            </a:pPr>
            <a:r>
              <a:t>⚠️ 智能异常处理：处理时效提升5倍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6BA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828800"/>
            <a:ext cx="5486400" cy="5486400"/>
          </a:xfrm>
          <a:prstGeom prst="ellipse">
            <a:avLst/>
          </a:prstGeom>
          <a:solidFill>
            <a:srgbClr val="2A7B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4572000" cy="1828800"/>
          </a:xfrm>
          <a:prstGeom prst="rect">
            <a:avLst/>
          </a:prstGeom>
          <a:solidFill>
            <a:srgbClr val="1A1A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 b="1">
                <a:solidFill>
                  <a:srgbClr val="F5A623"/>
                </a:solidFill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服务体系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6BA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1A2E"/>
                </a:solidFill>
              </a:defRPr>
            </a:pPr>
            <a:r>
              <a:t>全方位服务保障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6B6B7B"/>
                </a:solidFill>
              </a:defRPr>
            </a:pPr>
            <a:r>
              <a:t>📋 实施服务：需求调研→系统部署→培训上线→持续优化</a:t>
            </a:r>
          </a:p>
          <a:p>
            <a:pPr>
              <a:spcAft>
                <a:spcPts val="1000"/>
              </a:spcAft>
              <a:defRPr sz="1400">
                <a:solidFill>
                  <a:srgbClr val="6B6B7B"/>
                </a:solidFill>
              </a:defRPr>
            </a:pPr>
            <a:r>
              <a:t>☎️ 售后支持：7×24小时热线、在线工单、远程支持</a:t>
            </a:r>
          </a:p>
          <a:p>
            <a:pPr>
              <a:spcAft>
                <a:spcPts val="1000"/>
              </a:spcAft>
              <a:defRPr sz="1400">
                <a:solidFill>
                  <a:srgbClr val="6B6B7B"/>
                </a:solidFill>
              </a:defRPr>
            </a:pPr>
            <a:r>
              <a:t>🔄 版本升级：终身免费升级，持续迭代新功能</a:t>
            </a:r>
          </a:p>
          <a:p>
            <a:pPr>
              <a:spcAft>
                <a:spcPts val="1000"/>
              </a:spcAft>
              <a:defRPr sz="1400">
                <a:solidFill>
                  <a:srgbClr val="6B6B7B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6B6B7B"/>
                </a:solidFill>
              </a:defRPr>
            </a:pPr>
            <a:r>
              <a:t>🏆 成功案例：</a:t>
            </a:r>
          </a:p>
          <a:p>
            <a:pPr>
              <a:spcAft>
                <a:spcPts val="1000"/>
              </a:spcAft>
              <a:defRPr sz="1400">
                <a:solidFill>
                  <a:srgbClr val="6B6B7B"/>
                </a:solidFill>
              </a:defRPr>
            </a:pPr>
            <a:r>
              <a:t>   某头部母婴电商：日处理50万+订单，发货时效提升40%</a:t>
            </a:r>
          </a:p>
          <a:p>
            <a:pPr>
              <a:spcAft>
                <a:spcPts val="1000"/>
              </a:spcAft>
              <a:defRPr sz="1400">
                <a:solidFill>
                  <a:srgbClr val="6B6B7B"/>
                </a:solidFill>
              </a:defRPr>
            </a:pPr>
            <a:r>
              <a:t>   某连锁超市集团：库存周转从45天降至28天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-2743200"/>
            <a:ext cx="5486400" cy="5486400"/>
          </a:xfrm>
          <a:prstGeom prst="ellipse">
            <a:avLst/>
          </a:prstGeom>
          <a:solidFill>
            <a:srgbClr val="2D2D4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3657600"/>
            <a:ext cx="4572000" cy="4572000"/>
          </a:xfrm>
          <a:prstGeom prst="ellipse">
            <a:avLst/>
          </a:prstGeom>
          <a:solidFill>
            <a:srgbClr val="25253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011680"/>
            <a:ext cx="121916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感谢聆听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29184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E8E8EF"/>
                </a:solidFill>
              </a:defRPr>
            </a:pPr>
            <a:r>
              <a:t>期待与您携手共创数字化未来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754880"/>
            <a:ext cx="121916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广州八米网络科技有限公司</a:t>
            </a:r>
          </a:p>
          <a:p>
            <a:pPr algn="ctr">
              <a:defRPr sz="1400">
                <a:solidFill>
                  <a:srgbClr val="6B6B7B"/>
                </a:solidFill>
              </a:defRPr>
            </a:pPr>
            <a:r>
              <a:t>www.bami.com | www.aibami.com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